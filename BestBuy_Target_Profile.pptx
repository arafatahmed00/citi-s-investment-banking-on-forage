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886" r:id="rId2"/>
  </p:sldIdLst>
  <p:sldSz cx="9144000" cy="6858000" type="screen4x3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36" userDrawn="1">
          <p15:clr>
            <a:srgbClr val="A4A3A4"/>
          </p15:clr>
        </p15:guide>
        <p15:guide id="2" pos="264" userDrawn="1">
          <p15:clr>
            <a:srgbClr val="A4A3A4"/>
          </p15:clr>
        </p15:guide>
        <p15:guide id="3" orient="horz" pos="936" userDrawn="1">
          <p15:clr>
            <a:srgbClr val="A4A3A4"/>
          </p15:clr>
        </p15:guide>
        <p15:guide id="4" orient="horz" pos="2520" userDrawn="1">
          <p15:clr>
            <a:srgbClr val="A4A3A4"/>
          </p15:clr>
        </p15:guide>
        <p15:guide id="5" orient="horz" pos="33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9948"/>
    <a:srgbClr val="9BBB59"/>
    <a:srgbClr val="2A3647"/>
    <a:srgbClr val="BFBFBF"/>
    <a:srgbClr val="558ED5"/>
    <a:srgbClr val="E6E6E6"/>
    <a:srgbClr val="DCE6F1"/>
    <a:srgbClr val="FDFF5A"/>
    <a:srgbClr val="546C8D"/>
    <a:srgbClr val="C6D9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49" autoAdjust="0"/>
    <p:restoredTop sz="94614" autoAdjust="0"/>
  </p:normalViewPr>
  <p:slideViewPr>
    <p:cSldViewPr snapToGrid="0">
      <p:cViewPr varScale="1">
        <p:scale>
          <a:sx n="97" d="100"/>
          <a:sy n="97" d="100"/>
        </p:scale>
        <p:origin x="2502" y="306"/>
      </p:cViewPr>
      <p:guideLst>
        <p:guide orient="horz" pos="2736"/>
        <p:guide pos="264"/>
        <p:guide orient="horz" pos="936"/>
        <p:guide orient="horz" pos="2520"/>
        <p:guide orient="horz" pos="33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1"/>
          </a:xfrm>
          <a:prstGeom prst="rect">
            <a:avLst/>
          </a:prstGeom>
        </p:spPr>
        <p:txBody>
          <a:bodyPr vert="horz" lIns="93312" tIns="46657" rIns="93312" bIns="4665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1"/>
          </a:xfrm>
          <a:prstGeom prst="rect">
            <a:avLst/>
          </a:prstGeom>
        </p:spPr>
        <p:txBody>
          <a:bodyPr vert="horz" lIns="93312" tIns="46657" rIns="93312" bIns="46657" rtlCol="0"/>
          <a:lstStyle>
            <a:lvl1pPr algn="r">
              <a:defRPr sz="1200"/>
            </a:lvl1pPr>
          </a:lstStyle>
          <a:p>
            <a:fld id="{849BD7E0-0735-4C51-BED6-85D331CB9D50}" type="datetimeFigureOut">
              <a:rPr lang="en-US" smtClean="0"/>
              <a:t>11/22/2025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7638" y="1163638"/>
            <a:ext cx="4187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12" tIns="46657" rIns="93312" bIns="46657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9"/>
          </a:xfrm>
          <a:prstGeom prst="rect">
            <a:avLst/>
          </a:prstGeom>
        </p:spPr>
        <p:txBody>
          <a:bodyPr vert="horz" lIns="93312" tIns="46657" rIns="93312" bIns="4665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1"/>
            <a:ext cx="3043343" cy="467070"/>
          </a:xfrm>
          <a:prstGeom prst="rect">
            <a:avLst/>
          </a:prstGeom>
        </p:spPr>
        <p:txBody>
          <a:bodyPr vert="horz" lIns="93312" tIns="46657" rIns="93312" bIns="4665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1"/>
            <a:ext cx="3043343" cy="467070"/>
          </a:xfrm>
          <a:prstGeom prst="rect">
            <a:avLst/>
          </a:prstGeom>
        </p:spPr>
        <p:txBody>
          <a:bodyPr vert="horz" lIns="93312" tIns="46657" rIns="93312" bIns="46657" rtlCol="0" anchor="b"/>
          <a:lstStyle>
            <a:lvl1pPr algn="r">
              <a:defRPr sz="1200"/>
            </a:lvl1pPr>
          </a:lstStyle>
          <a:p>
            <a:fld id="{99FF416D-3A13-4461-9A32-8814D42D49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220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62F593-AD9B-4352-A2D4-D77C9B23497F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19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533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304800" y="838200"/>
            <a:ext cx="8534400" cy="5486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950">
                <a:solidFill>
                  <a:schemeClr val="tx1"/>
                </a:solidFill>
              </a:defRPr>
            </a:lvl2pPr>
            <a:lvl3pPr>
              <a:defRPr sz="9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 i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1676400" y="381000"/>
            <a:ext cx="7162800" cy="304800"/>
          </a:xfrm>
        </p:spPr>
        <p:txBody>
          <a:bodyPr/>
          <a:lstStyle>
            <a:lvl1pPr algn="r">
              <a:buNone/>
              <a:defRPr b="1" i="1">
                <a:solidFill>
                  <a:schemeClr val="accent1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7"/>
          </p:nvPr>
        </p:nvSpPr>
        <p:spPr>
          <a:xfrm>
            <a:off x="8224838" y="6575425"/>
            <a:ext cx="1071562" cy="2254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ABF985-C6E2-4259-BC55-A2442D7D7EC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Source:</a:t>
            </a:r>
          </a:p>
        </p:txBody>
      </p:sp>
    </p:spTree>
    <p:extLst>
      <p:ext uri="{BB962C8B-B14F-4D97-AF65-F5344CB8AC3E}">
        <p14:creationId xmlns:p14="http://schemas.microsoft.com/office/powerpoint/2010/main" val="301240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05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SE TH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1" y="152401"/>
            <a:ext cx="8534400" cy="533400"/>
          </a:xfrm>
        </p:spPr>
        <p:txBody>
          <a:bodyPr/>
          <a:lstStyle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en-US" sz="1500" b="0" kern="1200" cap="none" baseline="0" dirty="0">
                <a:solidFill>
                  <a:schemeClr val="tx1"/>
                </a:solidFill>
                <a:latin typeface="+mn-lt"/>
                <a:ea typeface="Roboto Lt" pitchFamily="2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11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69901" y="990600"/>
            <a:ext cx="8204200" cy="112558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fontAlgn="base" latinLnBrk="0" hangingPunct="1">
              <a:lnSpc>
                <a:spcPct val="114000"/>
              </a:lnSpc>
              <a:spcBef>
                <a:spcPts val="1200"/>
              </a:spcBef>
              <a:spcAft>
                <a:spcPts val="900"/>
              </a:spcAft>
              <a:buClrTx/>
              <a:buSzPct val="100000"/>
              <a:buFont typeface="Wingdings" pitchFamily="2" charset="2"/>
              <a:buNone/>
              <a:defRPr lang="en-US" sz="1200" b="1" kern="1200" dirty="0" smtClean="0">
                <a:solidFill>
                  <a:schemeClr val="tx1"/>
                </a:solidFill>
                <a:latin typeface="Roboto Lt" pitchFamily="2" charset="0"/>
                <a:ea typeface="Roboto Lt" pitchFamily="2" charset="0"/>
                <a:cs typeface="Helvetica" panose="020B0604020202020204" pitchFamily="34" charset="0"/>
              </a:defRPr>
            </a:lvl1pPr>
            <a:lvl2pPr marL="410779" indent="-204794">
              <a:buClrTx/>
              <a:buSzPct val="100000"/>
              <a:buFont typeface="Wingdings" panose="05000000000000000000" pitchFamily="2" charset="2"/>
              <a:buChar char="§"/>
              <a:defRPr lang="en-US" sz="713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16763" indent="-171456">
              <a:buFont typeface="Wingdings" panose="05000000000000000000" pitchFamily="2" charset="2"/>
              <a:buChar char="q"/>
              <a:defRPr lang="en-US" sz="675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204794" lvl="0" indent="-204794" algn="l" rtl="0" eaLnBrk="1" fontAlgn="base" hangingPunct="1">
              <a:lnSpc>
                <a:spcPct val="114000"/>
              </a:lnSpc>
              <a:spcBef>
                <a:spcPts val="450"/>
              </a:spcBef>
              <a:spcAft>
                <a:spcPct val="0"/>
              </a:spcAft>
              <a:buClrTx/>
              <a:buSzPct val="76000"/>
              <a:buFont typeface="Wingdings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marL="410779" lvl="1" indent="-204794" algn="l" rtl="0" eaLnBrk="1" fontAlgn="base" hangingPunct="1">
              <a:lnSpc>
                <a:spcPct val="114000"/>
              </a:lnSpc>
              <a:spcBef>
                <a:spcPts val="225"/>
              </a:spcBef>
              <a:spcAft>
                <a:spcPts val="225"/>
              </a:spcAft>
              <a:buClrTx/>
              <a:buSzPct val="76000"/>
              <a:buFont typeface="Wingdings" pitchFamily="2" charset="2"/>
              <a:buChar char="q"/>
              <a:defRPr/>
            </a:pPr>
            <a:r>
              <a:rPr lang="en-US" dirty="0"/>
              <a:t>Second level</a:t>
            </a:r>
          </a:p>
          <a:p>
            <a:pPr marL="616763" lvl="2" indent="-171456" algn="l" rtl="0" eaLnBrk="1" fontAlgn="base" hangingPunct="1">
              <a:spcBef>
                <a:spcPct val="0"/>
              </a:spcBef>
              <a:spcAft>
                <a:spcPts val="225"/>
              </a:spcAft>
              <a:buClrTx/>
              <a:buSzPct val="76000"/>
              <a:buFont typeface="Wingdings" panose="05000000000000000000" pitchFamily="2" charset="2"/>
              <a:buChar char="Ø"/>
            </a:pPr>
            <a:r>
              <a:rPr lang="en-US" dirty="0"/>
              <a:t>Third level</a:t>
            </a:r>
          </a:p>
        </p:txBody>
      </p:sp>
      <p:sp>
        <p:nvSpPr>
          <p:cNvPr id="8" name="Slide Number Placeholder 22"/>
          <p:cNvSpPr txBox="1">
            <a:spLocks/>
          </p:cNvSpPr>
          <p:nvPr userDrawn="1"/>
        </p:nvSpPr>
        <p:spPr>
          <a:xfrm>
            <a:off x="4384221" y="6556375"/>
            <a:ext cx="375557" cy="225425"/>
          </a:xfrm>
          <a:prstGeom prst="rect">
            <a:avLst/>
          </a:prstGeom>
        </p:spPr>
        <p:txBody>
          <a:bodyPr vert="horz" anchor="ctr"/>
          <a:lstStyle>
            <a:defPPr>
              <a:defRPr lang="en-US"/>
            </a:defPPr>
            <a:lvl1pPr marL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5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0E597324-71BB-4312-8794-C30754F659B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552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A766D-D653-4AB1-AA73-807F6173D2D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11/22/2025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16DCD-4470-47B1-B94E-BB0D31D5A9D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169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304800" y="838200"/>
            <a:ext cx="8534400" cy="5486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 i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7"/>
          </p:nvPr>
        </p:nvSpPr>
        <p:spPr>
          <a:xfrm>
            <a:off x="8224838" y="6575425"/>
            <a:ext cx="1071562" cy="2254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ABF985-C6E2-4259-BC55-A2442D7D7EC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Source:</a:t>
            </a:r>
          </a:p>
        </p:txBody>
      </p:sp>
    </p:spTree>
    <p:extLst>
      <p:ext uri="{BB962C8B-B14F-4D97-AF65-F5344CB8AC3E}">
        <p14:creationId xmlns:p14="http://schemas.microsoft.com/office/powerpoint/2010/main" val="3412380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533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304800" y="6294438"/>
            <a:ext cx="8534400" cy="18256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/>
              <a:t>(1) Potential extension of the forbearance agreement would be subject to achieving certain milestones (e.g. execution of a letter of intent with a credible buyer)</a:t>
            </a: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255000" y="6562725"/>
            <a:ext cx="1071562" cy="225425"/>
          </a:xfrm>
          <a:prstGeom prst="rect">
            <a:avLst/>
          </a:prstGeom>
        </p:spPr>
        <p:txBody>
          <a:bodyPr vert="horz" anchor="ctr"/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50" smtClean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0E597324-71BB-4312-8794-C30754F659B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304800" y="838200"/>
            <a:ext cx="8531352" cy="5184648"/>
          </a:xfrm>
          <a:prstGeom prst="rect">
            <a:avLst/>
          </a:prstGeom>
        </p:spPr>
        <p:txBody>
          <a:bodyPr/>
          <a:lstStyle>
            <a:lvl1pPr>
              <a:defRPr lang="en-US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96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96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273050" lvl="0" indent="-273050" algn="l" rtl="0" eaLnBrk="1" fontAlgn="base" hangingPunct="1">
              <a:lnSpc>
                <a:spcPct val="114000"/>
              </a:lnSpc>
              <a:spcBef>
                <a:spcPts val="600"/>
              </a:spcBef>
              <a:spcAft>
                <a:spcPct val="0"/>
              </a:spcAft>
              <a:buClrTx/>
              <a:buSzPct val="76000"/>
              <a:buFont typeface="Wingdings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marL="547688" lvl="1" indent="-273050" algn="l" rtl="0" eaLnBrk="1" fontAlgn="base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76000"/>
              <a:buFont typeface="Wingdings" pitchFamily="2" charset="2"/>
              <a:buChar char="q"/>
              <a:defRPr/>
            </a:pPr>
            <a:r>
              <a:rPr lang="en-US" dirty="0"/>
              <a:t>Second level</a:t>
            </a:r>
          </a:p>
          <a:p>
            <a:pPr marL="822325" lvl="2" indent="-228600" algn="l" rtl="0" eaLnBrk="1" fontAlgn="base" hangingPunct="1">
              <a:spcBef>
                <a:spcPct val="0"/>
              </a:spcBef>
              <a:spcAft>
                <a:spcPts val="300"/>
              </a:spcAft>
              <a:buClrTx/>
              <a:buSzPct val="76000"/>
              <a:buFont typeface="Wingdings 3" pitchFamily="18" charset="2"/>
              <a:buChar char=""/>
            </a:pPr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29104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Placeholder 21"/>
          <p:cNvSpPr>
            <a:spLocks noGrp="1"/>
          </p:cNvSpPr>
          <p:nvPr>
            <p:ph type="title"/>
          </p:nvPr>
        </p:nvSpPr>
        <p:spPr bwMode="auto">
          <a:xfrm>
            <a:off x="228601" y="152401"/>
            <a:ext cx="8610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04801" y="838200"/>
            <a:ext cx="85344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marL="410779" lvl="1" indent="-204794" algn="l" rtl="0" eaLnBrk="1" fontAlgn="base" hangingPunct="1">
              <a:lnSpc>
                <a:spcPct val="114000"/>
              </a:lnSpc>
              <a:spcBef>
                <a:spcPts val="225"/>
              </a:spcBef>
              <a:spcAft>
                <a:spcPts val="225"/>
              </a:spcAft>
              <a:buClrTx/>
              <a:buSzPct val="76000"/>
              <a:buFont typeface="Wingdings" pitchFamily="2" charset="2"/>
              <a:buChar char="q"/>
              <a:defRPr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304801" y="6294440"/>
            <a:ext cx="8534400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675" i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304800" y="685801"/>
            <a:ext cx="8504238" cy="8573"/>
          </a:xfrm>
          <a:prstGeom prst="rect">
            <a:avLst/>
          </a:prstGeom>
          <a:solidFill>
            <a:schemeClr val="tx1"/>
          </a:solidFill>
          <a:ln>
            <a:noFill/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spcBef>
                <a:spcPct val="50000"/>
              </a:spcBef>
              <a:buClr>
                <a:prstClr val="white"/>
              </a:buClr>
              <a:buSzPct val="80000"/>
              <a:buFont typeface="Wingdings" pitchFamily="2" charset="2"/>
              <a:buNone/>
              <a:defRPr/>
            </a:pPr>
            <a:endParaRPr lang="en-US" sz="1350" dirty="0">
              <a:solidFill>
                <a:srgbClr val="000000"/>
              </a:solidFill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304800" y="838203"/>
            <a:ext cx="8503920" cy="5949953"/>
          </a:xfrm>
          <a:prstGeom prst="rect">
            <a:avLst/>
          </a:prstGeom>
          <a:solidFill>
            <a:srgbClr val="E6E6E6"/>
          </a:solidFill>
          <a:ln w="12700" cap="rnd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>
              <a:solidFill>
                <a:prstClr val="black"/>
              </a:solidFill>
            </a:endParaRPr>
          </a:p>
        </p:txBody>
      </p:sp>
      <p:sp>
        <p:nvSpPr>
          <p:cNvPr id="1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84221" y="6556375"/>
            <a:ext cx="375557" cy="225425"/>
          </a:xfrm>
          <a:prstGeom prst="rect">
            <a:avLst/>
          </a:prstGeom>
        </p:spPr>
        <p:txBody>
          <a:bodyPr vert="horz" anchor="ctr"/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51" smtClean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0E597324-71BB-4312-8794-C30754F659B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1460607" y="6667276"/>
            <a:ext cx="2834640" cy="0"/>
          </a:xfrm>
          <a:prstGeom prst="line">
            <a:avLst/>
          </a:prstGeom>
          <a:ln w="9525" cmpd="sng">
            <a:solidFill>
              <a:srgbClr val="68686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>
            <a:off x="4843398" y="6667276"/>
            <a:ext cx="3657600" cy="0"/>
          </a:xfrm>
          <a:prstGeom prst="line">
            <a:avLst/>
          </a:prstGeom>
          <a:ln w="9525" cmpd="sng">
            <a:solidFill>
              <a:srgbClr val="68686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77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77" r:id="rId2"/>
    <p:sldLayoutId id="2147483673" r:id="rId3"/>
    <p:sldLayoutId id="2147483692" r:id="rId4"/>
    <p:sldLayoutId id="2147483697" r:id="rId5"/>
    <p:sldLayoutId id="2147483698" r:id="rId6"/>
  </p:sldLayoutIdLst>
  <p:txStyles>
    <p:titleStyle>
      <a:lvl1pPr marL="0" algn="l" defTabSz="914400" rtl="0" eaLnBrk="1" fontAlgn="base" latinLnBrk="0" hangingPunct="1">
        <a:spcBef>
          <a:spcPct val="0"/>
        </a:spcBef>
        <a:spcAft>
          <a:spcPct val="0"/>
        </a:spcAft>
        <a:defRPr lang="en-US" sz="1600" b="0" kern="1200" cap="all" baseline="0" dirty="0" smtClean="0">
          <a:solidFill>
            <a:schemeClr val="tx1"/>
          </a:solidFill>
          <a:latin typeface="Roboto Lt" pitchFamily="2" charset="0"/>
          <a:ea typeface="+mj-ea"/>
          <a:cs typeface="Helvetica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>
          <a:solidFill>
            <a:srgbClr val="2A3647"/>
          </a:solidFill>
          <a:latin typeface="Cambria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>
          <a:solidFill>
            <a:srgbClr val="2A3647"/>
          </a:solidFill>
          <a:latin typeface="Cambria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>
          <a:solidFill>
            <a:srgbClr val="2A3647"/>
          </a:solidFill>
          <a:latin typeface="Cambria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>
          <a:solidFill>
            <a:srgbClr val="2A3647"/>
          </a:solidFill>
          <a:latin typeface="Cambria" pitchFamily="18" charset="0"/>
        </a:defRPr>
      </a:lvl5pPr>
      <a:lvl6pPr marL="342911" algn="l" rtl="0" eaLnBrk="1" fontAlgn="base" hangingPunct="1"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Cambria" pitchFamily="18" charset="0"/>
        </a:defRPr>
      </a:lvl6pPr>
      <a:lvl7pPr marL="685821" algn="l" rtl="0" eaLnBrk="1" fontAlgn="base" hangingPunct="1"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Cambria" pitchFamily="18" charset="0"/>
        </a:defRPr>
      </a:lvl7pPr>
      <a:lvl8pPr marL="1028732" algn="l" rtl="0" eaLnBrk="1" fontAlgn="base" hangingPunct="1"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Cambria" pitchFamily="18" charset="0"/>
        </a:defRPr>
      </a:lvl8pPr>
      <a:lvl9pPr marL="1371643" algn="l" rtl="0" eaLnBrk="1" fontAlgn="base" hangingPunct="1"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Cambria" pitchFamily="18" charset="0"/>
        </a:defRPr>
      </a:lvl9pPr>
    </p:titleStyle>
    <p:bodyStyle>
      <a:lvl1pPr marL="204794" indent="-204794" algn="l" rtl="0" eaLnBrk="1" fontAlgn="base" hangingPunct="1">
        <a:lnSpc>
          <a:spcPct val="114000"/>
        </a:lnSpc>
        <a:spcBef>
          <a:spcPts val="900"/>
        </a:spcBef>
        <a:spcAft>
          <a:spcPct val="0"/>
        </a:spcAft>
        <a:buClrTx/>
        <a:buSzPct val="100000"/>
        <a:buFont typeface="Wingdings" pitchFamily="2" charset="2"/>
        <a:buChar char="§"/>
        <a:defRPr sz="788" kern="1200">
          <a:solidFill>
            <a:schemeClr val="tx1"/>
          </a:solidFill>
          <a:latin typeface="+mn-lt"/>
          <a:ea typeface="+mn-ea"/>
          <a:cs typeface="+mn-cs"/>
        </a:defRPr>
      </a:lvl1pPr>
      <a:lvl2pPr marL="410779" indent="-204794" algn="l" rtl="0" eaLnBrk="1" fontAlgn="base" hangingPunct="1">
        <a:lnSpc>
          <a:spcPct val="114000"/>
        </a:lnSpc>
        <a:spcBef>
          <a:spcPts val="225"/>
        </a:spcBef>
        <a:spcAft>
          <a:spcPts val="225"/>
        </a:spcAft>
        <a:buClrTx/>
        <a:buSzPct val="76000"/>
        <a:buFont typeface="Wingdings" pitchFamily="2" charset="2"/>
        <a:buChar char="q"/>
        <a:defRPr lang="en-US" sz="713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616763" indent="-171456" algn="l" rtl="0" eaLnBrk="1" fontAlgn="base" hangingPunct="1">
        <a:spcBef>
          <a:spcPct val="0"/>
        </a:spcBef>
        <a:spcAft>
          <a:spcPts val="225"/>
        </a:spcAft>
        <a:buClrTx/>
        <a:buSzPct val="76000"/>
        <a:buFont typeface="Wingdings" panose="05000000000000000000" pitchFamily="2" charset="2"/>
        <a:buChar char="Ø"/>
        <a:defRPr sz="675" kern="1200">
          <a:solidFill>
            <a:schemeClr val="tx1"/>
          </a:solidFill>
          <a:latin typeface="+mn-lt"/>
          <a:ea typeface="+mn-ea"/>
          <a:cs typeface="+mn-cs"/>
        </a:defRPr>
      </a:lvl3pPr>
      <a:lvl4pPr marL="822748" indent="-171456" algn="l" rtl="0" eaLnBrk="1" fontAlgn="base" hangingPunct="1">
        <a:spcBef>
          <a:spcPts val="225"/>
        </a:spcBef>
        <a:spcAft>
          <a:spcPts val="225"/>
        </a:spcAft>
        <a:buClr>
          <a:srgbClr val="797951"/>
        </a:buClr>
        <a:buSzPct val="70000"/>
        <a:buFont typeface="Wingdings" pitchFamily="2" charset="2"/>
        <a:buChar char=""/>
        <a:defRPr sz="82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32" indent="-171456" algn="l" rtl="0" eaLnBrk="1" fontAlgn="base" hangingPunct="1">
        <a:spcBef>
          <a:spcPts val="225"/>
        </a:spcBef>
        <a:spcAft>
          <a:spcPts val="225"/>
        </a:spcAft>
        <a:buClr>
          <a:schemeClr val="accent2"/>
        </a:buClr>
        <a:buSzPct val="70000"/>
        <a:buFont typeface="Wingdings" pitchFamily="2" charset="2"/>
        <a:buChar char="Ø"/>
        <a:defRPr sz="825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1234479" indent="-137165" algn="l" rtl="0" eaLnBrk="1" latinLnBrk="0" hangingPunct="1">
        <a:spcBef>
          <a:spcPts val="225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371643" indent="-137165" algn="l" rtl="0" eaLnBrk="1" latinLnBrk="0" hangingPunct="1">
        <a:spcBef>
          <a:spcPts val="225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05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1508807" indent="-137165" algn="l" rtl="0" eaLnBrk="1" latinLnBrk="0" hangingPunct="1">
        <a:spcBef>
          <a:spcPts val="225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05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1645971" indent="-137165" algn="l" rtl="0" eaLnBrk="1" latinLnBrk="0" hangingPunct="1">
        <a:spcBef>
          <a:spcPts val="225"/>
        </a:spcBef>
        <a:buClr>
          <a:srgbClr val="9FB8CD"/>
        </a:buClr>
        <a:buSzPct val="75000"/>
        <a:buFont typeface="Wingdings 3"/>
        <a:buChar char=""/>
        <a:defRPr kumimoji="0" lang="en-US" sz="9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1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2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3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4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5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6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7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8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247287"/>
              </p:ext>
            </p:extLst>
          </p:nvPr>
        </p:nvGraphicFramePr>
        <p:xfrm>
          <a:off x="380422" y="1430445"/>
          <a:ext cx="1163898" cy="426720"/>
        </p:xfrm>
        <a:graphic>
          <a:graphicData uri="http://schemas.openxmlformats.org/drawingml/2006/table">
            <a:tbl>
              <a:tblPr bandRow="1"/>
              <a:tblGrid>
                <a:gridCol w="688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1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2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32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4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5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64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75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86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800" b="1" u="none" dirty="0">
                          <a:solidFill>
                            <a:schemeClr val="tx1"/>
                          </a:solidFill>
                        </a:rPr>
                        <a:t>Founded:</a:t>
                      </a:r>
                      <a:endParaRPr lang="en-US" sz="800" b="1" u="none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1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2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32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4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5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64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75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86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sz="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1966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1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2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32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4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5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64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75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86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800" b="1" u="none" baseline="0" dirty="0">
                          <a:solidFill>
                            <a:schemeClr val="tx1"/>
                          </a:solidFill>
                        </a:rPr>
                        <a:t>No. Stores: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1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2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32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4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5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64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75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86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sz="800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1144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285136" y="127819"/>
            <a:ext cx="8534400" cy="533400"/>
          </a:xfrm>
        </p:spPr>
        <p:txBody>
          <a:bodyPr/>
          <a:lstStyle/>
          <a:p>
            <a:r>
              <a:rPr lang="en-US" sz="1400" b="1" dirty="0"/>
              <a:t>BEST BUY | </a:t>
            </a:r>
            <a:r>
              <a:rPr lang="en-US" sz="1400" dirty="0"/>
              <a:t>TARGET COMPANY PROFILE</a:t>
            </a:r>
            <a:endParaRPr dirty="0"/>
          </a:p>
        </p:txBody>
      </p:sp>
      <p:cxnSp>
        <p:nvCxnSpPr>
          <p:cNvPr id="22" name="Straight Connector 21"/>
          <p:cNvCxnSpPr/>
          <p:nvPr/>
        </p:nvCxnSpPr>
        <p:spPr>
          <a:xfrm>
            <a:off x="2798791" y="1036709"/>
            <a:ext cx="0" cy="5463442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422210"/>
              </p:ext>
            </p:extLst>
          </p:nvPr>
        </p:nvGraphicFramePr>
        <p:xfrm>
          <a:off x="380422" y="2134036"/>
          <a:ext cx="2332298" cy="20800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9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</a:rPr>
                        <a:t>Current Share Price </a:t>
                      </a:r>
                      <a:endParaRPr lang="en-US" sz="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/>
                        <a:t>$80.89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</a:rPr>
                        <a:t>Shares Outstanding (mm)</a:t>
                      </a:r>
                      <a:endParaRPr lang="en-US" sz="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/>
                        <a:t>225.5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</a:rPr>
                        <a:t>Market Cap </a:t>
                      </a:r>
                      <a:endParaRPr lang="en-US" sz="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/>
                        <a:t>$18.23B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</a:rPr>
                        <a:t>Add: Short-Term Debt </a:t>
                      </a:r>
                      <a:endParaRPr lang="en-US" sz="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 $0.02B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</a:rPr>
                        <a:t>Add: Long-Term Debt</a:t>
                      </a:r>
                      <a:endParaRPr lang="en-US" sz="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1.14B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Subtract: Cash and Equivalents</a:t>
                      </a: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($0.93B)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 Enterprise Value</a:t>
                      </a: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/>
                        <a:t>~$18.46B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238183"/>
              </p:ext>
            </p:extLst>
          </p:nvPr>
        </p:nvGraphicFramePr>
        <p:xfrm>
          <a:off x="1558983" y="1430445"/>
          <a:ext cx="1163898" cy="426720"/>
        </p:xfrm>
        <a:graphic>
          <a:graphicData uri="http://schemas.openxmlformats.org/drawingml/2006/table">
            <a:tbl>
              <a:tblPr bandRow="1"/>
              <a:tblGrid>
                <a:gridCol w="688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1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2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32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4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5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64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75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86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800" b="1" u="none" baseline="0" dirty="0">
                          <a:solidFill>
                            <a:schemeClr val="tx1"/>
                          </a:solidFill>
                        </a:rPr>
                        <a:t>Revenue: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1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2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32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4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5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64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75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86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sz="800" dirty="0"/>
                        <a:t>$51.3B</a:t>
                      </a:r>
                      <a:endParaRPr kumimoji="0" lang="en-US" sz="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1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2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32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4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5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64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75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86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800" b="1" u="none" baseline="0" dirty="0">
                          <a:solidFill>
                            <a:schemeClr val="tx1"/>
                          </a:solidFill>
                        </a:rPr>
                        <a:t>EBITDA: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1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2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32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4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5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64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75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86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sz="800" dirty="0"/>
                        <a:t>$3.3B</a:t>
                      </a:r>
                      <a:endParaRPr kumimoji="0" lang="en-US" sz="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28" name="Picture 4">
            <a:extLst>
              <a:ext uri="{FF2B5EF4-FFF2-40B4-BE49-F238E27FC236}">
                <a16:creationId xmlns:a16="http://schemas.microsoft.com/office/drawing/2014/main" id="{87766EB0-E5AF-16CD-8A03-456FAAA22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45" y="887643"/>
            <a:ext cx="797559" cy="465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227E42E-3E3C-7B75-E036-5DA9549F8839}"/>
              </a:ext>
            </a:extLst>
          </p:cNvPr>
          <p:cNvSpPr/>
          <p:nvPr/>
        </p:nvSpPr>
        <p:spPr bwMode="auto">
          <a:xfrm>
            <a:off x="380422" y="4272915"/>
            <a:ext cx="2332298" cy="228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fontAlgn="b"/>
            <a:r>
              <a:rPr lang="en-US" sz="800" b="1" kern="0" cap="all" dirty="0">
                <a:ea typeface="Roboto Lt" pitchFamily="2" charset="0"/>
                <a:cs typeface="Helvetica" panose="020B0604020202020204" pitchFamily="34" charset="0"/>
              </a:rPr>
              <a:t>LEADERSHIP TEAM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36D15E-38B3-0849-B136-B9F9A70607FC}"/>
              </a:ext>
            </a:extLst>
          </p:cNvPr>
          <p:cNvSpPr txBox="1"/>
          <p:nvPr/>
        </p:nvSpPr>
        <p:spPr>
          <a:xfrm>
            <a:off x="304800" y="4552336"/>
            <a:ext cx="24384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• Corie Barry – CEO</a:t>
            </a:r>
          </a:p>
          <a:p>
            <a:r>
              <a:rPr lang="en-US" sz="1000" dirty="0"/>
              <a:t>• Matt </a:t>
            </a:r>
            <a:r>
              <a:rPr lang="en-US" sz="1000" dirty="0" err="1"/>
              <a:t>Bilunas</a:t>
            </a:r>
            <a:r>
              <a:rPr lang="en-US" sz="1000" dirty="0"/>
              <a:t> – SEVP, CFO &amp; Strategy</a:t>
            </a:r>
          </a:p>
          <a:p>
            <a:r>
              <a:rPr lang="en-US" sz="1000" dirty="0"/>
              <a:t>• Jason Bonfig – SEVP, Chief Customer/Product</a:t>
            </a:r>
          </a:p>
          <a:p>
            <a:r>
              <a:rPr lang="en-US" sz="1000" dirty="0"/>
              <a:t>• Deborah Di Sanzo – President, Best Buy Health</a:t>
            </a:r>
          </a:p>
          <a:p>
            <a:r>
              <a:rPr lang="en-US" sz="1000" dirty="0"/>
              <a:t>• Mark Irvin – Chief Supply Chain Officer</a:t>
            </a:r>
          </a:p>
          <a:p>
            <a:r>
              <a:rPr lang="en-US" sz="1000" dirty="0"/>
              <a:t>• Luke Motschenbacher – President of Retail</a:t>
            </a:r>
          </a:p>
          <a:p>
            <a:r>
              <a:rPr lang="en-US" sz="1000" dirty="0"/>
              <a:t>• Todd Hartman – Chief Legal &amp; Risk Officer</a:t>
            </a:r>
          </a:p>
          <a:p>
            <a:r>
              <a:rPr lang="en-US" sz="1000" dirty="0"/>
              <a:t>• Neal Sample – Chief Digital &amp; Technology Officer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7A87F7-7FC9-F978-70FF-5C1E9EDFBA31}"/>
              </a:ext>
            </a:extLst>
          </p:cNvPr>
          <p:cNvSpPr txBox="1"/>
          <p:nvPr/>
        </p:nvSpPr>
        <p:spPr>
          <a:xfrm>
            <a:off x="2831691" y="3554361"/>
            <a:ext cx="5938683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Launch of </a:t>
            </a:r>
            <a:r>
              <a:rPr lang="en-US" sz="1400" dirty="0" err="1"/>
              <a:t>Totaltech</a:t>
            </a:r>
            <a:r>
              <a:rPr lang="en-US" sz="1400" dirty="0"/>
              <a:t> / My Best Buy Memberships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Introduces recurring revenue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Enhances customer loyalty &amp; retention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Differentiates vs Amazon &amp; Walmart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Higher-margin services revenue opportunity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Supports long-term shift toward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Paid Subscription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Subscription programs support margin expansion and recurring revenue — important for valuation uplift.</a:t>
            </a:r>
          </a:p>
          <a:p>
            <a:endParaRPr lang="en-US" sz="1400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A824F1-AAA7-D24B-2988-FFCD40799922}"/>
              </a:ext>
            </a:extLst>
          </p:cNvPr>
          <p:cNvSpPr txBox="1"/>
          <p:nvPr/>
        </p:nvSpPr>
        <p:spPr>
          <a:xfrm>
            <a:off x="2797276" y="1165122"/>
            <a:ext cx="59239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Company Overview</a:t>
            </a:r>
            <a:endParaRPr lang="en-US" sz="1400" dirty="0"/>
          </a:p>
          <a:p>
            <a:r>
              <a:rPr lang="en-US" sz="1400" dirty="0"/>
              <a:t>Headquarters: </a:t>
            </a:r>
            <a:r>
              <a:rPr lang="en-US" sz="1400" b="1" dirty="0"/>
              <a:t>Richfield, Minnesota</a:t>
            </a:r>
          </a:p>
          <a:p>
            <a:r>
              <a:rPr lang="en-US" sz="1400" b="1" dirty="0"/>
              <a:t>EBITDA Margin:</a:t>
            </a:r>
            <a:r>
              <a:rPr lang="en-US" sz="1400" dirty="0"/>
              <a:t> ~6.4%</a:t>
            </a:r>
          </a:p>
          <a:p>
            <a:r>
              <a:rPr lang="en-US" sz="1400" b="1" dirty="0"/>
              <a:t>Business Model:</a:t>
            </a:r>
            <a:r>
              <a:rPr lang="en-US" sz="1400" dirty="0"/>
              <a:t> The largest specialty consumer electronics retailer in the U.S. Omnichannel retail + services (Geek Squad), membership programs, and in-home installation</a:t>
            </a:r>
          </a:p>
          <a:p>
            <a:r>
              <a:rPr lang="en-US" sz="1400" b="1" dirty="0"/>
              <a:t>1,144 retail stores</a:t>
            </a:r>
            <a:r>
              <a:rPr lang="en-US" sz="1400" dirty="0"/>
              <a:t> across the U.S., Canada, and Puerto Rico</a:t>
            </a:r>
          </a:p>
          <a:p>
            <a:r>
              <a:rPr lang="en-US" sz="1400" b="1" dirty="0"/>
              <a:t>Description: </a:t>
            </a:r>
            <a:r>
              <a:rPr lang="en-US" sz="1400" dirty="0"/>
              <a:t>Leading U.S. specialty retailer of consumer electronics, appliances, entertainment, and services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F57809-3C90-462C-53A9-C7F92DDB23E7}"/>
              </a:ext>
            </a:extLst>
          </p:cNvPr>
          <p:cNvSpPr/>
          <p:nvPr/>
        </p:nvSpPr>
        <p:spPr bwMode="auto">
          <a:xfrm>
            <a:off x="2855452" y="899543"/>
            <a:ext cx="5740400" cy="228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fontAlgn="b"/>
            <a:r>
              <a:rPr lang="en-US" sz="800" b="1" kern="0" cap="all" dirty="0">
                <a:ea typeface="Roboto Lt" pitchFamily="2" charset="0"/>
                <a:cs typeface="Helvetica" panose="020B0604020202020204" pitchFamily="34" charset="0"/>
              </a:rPr>
              <a:t>Business overview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AD2FB4-F2AD-6FF9-1B64-74FB2221AFF7}"/>
              </a:ext>
            </a:extLst>
          </p:cNvPr>
          <p:cNvSpPr/>
          <p:nvPr/>
        </p:nvSpPr>
        <p:spPr bwMode="auto">
          <a:xfrm>
            <a:off x="2889864" y="3306590"/>
            <a:ext cx="5740400" cy="228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fontAlgn="b"/>
            <a:r>
              <a:rPr lang="en-US" sz="800" b="1" kern="0" cap="all" dirty="0">
                <a:ea typeface="Roboto Lt" pitchFamily="2" charset="0"/>
                <a:cs typeface="Helvetica" panose="020B0604020202020204" pitchFamily="34" charset="0"/>
              </a:rPr>
              <a:t>Recent News 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380422" y="1920240"/>
            <a:ext cx="2332298" cy="228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fontAlgn="b"/>
            <a:r>
              <a:rPr lang="en-US" sz="800" b="1" kern="0" cap="all" dirty="0">
                <a:ea typeface="Roboto Lt" pitchFamily="2" charset="0"/>
                <a:cs typeface="Helvetica" panose="020B0604020202020204" pitchFamily="34" charset="0"/>
              </a:rPr>
              <a:t>ENTERPRISE VALUE </a:t>
            </a:r>
            <a:r>
              <a:rPr lang="en-US" sz="800" dirty="0"/>
              <a:t>(USD billions)</a:t>
            </a:r>
          </a:p>
        </p:txBody>
      </p:sp>
    </p:spTree>
    <p:extLst>
      <p:ext uri="{BB962C8B-B14F-4D97-AF65-F5344CB8AC3E}">
        <p14:creationId xmlns:p14="http://schemas.microsoft.com/office/powerpoint/2010/main" val="30921903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2_USE THIS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546C8D"/>
      </a:accent1>
      <a:accent2>
        <a:srgbClr val="C0504D"/>
      </a:accent2>
      <a:accent3>
        <a:srgbClr val="386A1D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PP Presentation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>
    <a:spDef>
      <a:spPr bwMode="auto">
        <a:solidFill>
          <a:srgbClr val="FDFF5A"/>
        </a:solidFill>
        <a:ln w="28575" cap="rnd" cmpd="sng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9504</TotalTime>
  <Words>265</Words>
  <Application>Microsoft Office PowerPoint</Application>
  <PresentationFormat>On-screen Show (4:3)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Cambria</vt:lpstr>
      <vt:lpstr>Roboto Lt</vt:lpstr>
      <vt:lpstr>Wingdings</vt:lpstr>
      <vt:lpstr>Wingdings 3</vt:lpstr>
      <vt:lpstr>2_USE THIS</vt:lpstr>
      <vt:lpstr>BEST BUY | TARGET COMPANY PROFILE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Nathan Fencl</dc:creator>
  <cp:lastModifiedBy>Arafat Ahmed</cp:lastModifiedBy>
  <cp:revision>950</cp:revision>
  <cp:lastPrinted>2017-08-15T08:51:31Z</cp:lastPrinted>
  <dcterms:created xsi:type="dcterms:W3CDTF">2015-11-15T18:39:17Z</dcterms:created>
  <dcterms:modified xsi:type="dcterms:W3CDTF">2025-11-22T18:03:20Z</dcterms:modified>
</cp:coreProperties>
</file>